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780CE-5ED1-4CEA-B501-6966AC7B0B52}" v="402" dt="2026-10-12T05:57:47.6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9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828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083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9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3163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70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808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07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34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061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15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56088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D612B1A-8B78-3494-16EC-1B90B19D59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" b="9029"/>
          <a:stretch>
            <a:fillRect/>
          </a:stretch>
        </p:blipFill>
        <p:spPr>
          <a:xfrm>
            <a:off x="1424226" y="1047665"/>
            <a:ext cx="5528939" cy="5030386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96275" y="1419225"/>
            <a:ext cx="3081576" cy="208586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Britannia industries fp&amp;a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1733655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Q2 fy2027 performance summary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740C3B-3CFA-B576-B140-5AD0256DB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196" y="864529"/>
            <a:ext cx="2632854" cy="1261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D9B988-FCFA-D4B7-54AE-642911363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290" y="869291"/>
            <a:ext cx="2762250" cy="12519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089E6F-BE6E-0B2E-8798-C5B1D783DC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517" y="869291"/>
            <a:ext cx="2762250" cy="12519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D0283A-78EF-0F44-8277-B2E8C0678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8120" y="854914"/>
            <a:ext cx="2589722" cy="12662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FC2DEA-D4BC-F706-2D5D-AFC14D4A5F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9290" y="2134499"/>
            <a:ext cx="2762250" cy="13525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E2F0111-F9A9-B9B5-6F97-B53468624853}"/>
              </a:ext>
            </a:extLst>
          </p:cNvPr>
          <p:cNvSpPr txBox="1"/>
          <p:nvPr/>
        </p:nvSpPr>
        <p:spPr>
          <a:xfrm>
            <a:off x="1286933" y="3877733"/>
            <a:ext cx="5842000" cy="22249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200000"/>
              </a:lnSpc>
              <a:buFont typeface="Wingdings"/>
              <a:buChar char="q"/>
            </a:pPr>
            <a:r>
              <a:rPr lang="en-US" b="1">
                <a:solidFill>
                  <a:schemeClr val="bg1"/>
                </a:solidFill>
              </a:rPr>
              <a:t>Revenue Grew 6.7 % YoY</a:t>
            </a:r>
            <a:endParaRPr lang="en-US"/>
          </a:p>
          <a:p>
            <a:pPr marL="285750" indent="-285750">
              <a:lnSpc>
                <a:spcPct val="200000"/>
              </a:lnSpc>
              <a:buFont typeface="Wingdings"/>
              <a:buChar char="q"/>
            </a:pPr>
            <a:r>
              <a:rPr lang="en-US" b="1">
                <a:solidFill>
                  <a:schemeClr val="bg1"/>
                </a:solidFill>
              </a:rPr>
              <a:t>Margin expanded 65bps</a:t>
            </a:r>
          </a:p>
          <a:p>
            <a:pPr marL="285750" indent="-285750">
              <a:lnSpc>
                <a:spcPct val="200000"/>
              </a:lnSpc>
              <a:buFont typeface="Wingdings"/>
              <a:buChar char="q"/>
            </a:pPr>
            <a:r>
              <a:rPr lang="en-US" b="1">
                <a:solidFill>
                  <a:schemeClr val="bg1"/>
                </a:solidFill>
              </a:rPr>
              <a:t>103% Cash Conversion</a:t>
            </a:r>
          </a:p>
          <a:p>
            <a:pPr algn="l"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954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F3D65BA-1C65-40FB-92EF-83951BDC1D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8175"/>
            <a:ext cx="12191999" cy="621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F52CCA-FCDD-49A0-BFFC-3BD41F1B8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B124C4-8FE4-91AC-375F-50A27BA3F9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5"/>
            <a:ext cx="3081576" cy="2085869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Decade of consistent </a:t>
            </a:r>
            <a:br>
              <a:rPr lang="en-US" sz="2800" dirty="0">
                <a:solidFill>
                  <a:srgbClr val="FFFFFF"/>
                </a:solidFill>
              </a:rPr>
            </a:br>
            <a:r>
              <a:rPr lang="en-US" sz="2800">
                <a:solidFill>
                  <a:srgbClr val="FFFFFF"/>
                </a:solidFill>
              </a:rPr>
              <a:t> growth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438DAA-4259-9C67-B3C0-00F9E2E1E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7" y="1052513"/>
            <a:ext cx="7540924" cy="532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49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36EA-3E3E-A703-E611-E2A4A3C344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610099"/>
            <a:ext cx="10993549" cy="1066801"/>
          </a:xfrm>
        </p:spPr>
        <p:txBody>
          <a:bodyPr>
            <a:normAutofit/>
          </a:bodyPr>
          <a:lstStyle/>
          <a:p>
            <a:r>
              <a:rPr lang="en-US" sz="3300">
                <a:solidFill>
                  <a:srgbClr val="FFFFFF"/>
                </a:solidFill>
              </a:rPr>
              <a:t>Budget discipline – every quarter ahead of plan</a:t>
            </a: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262CFB0-CBAC-4B42-B115-C04986CD0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3900"/>
            <a:ext cx="12192000" cy="370817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77A2F-7045-CB24-C919-42D52D783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313" y="1003085"/>
            <a:ext cx="6509761" cy="37035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15FDB47-56AF-3DF3-FCC8-BD67B59398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920" y="1006670"/>
            <a:ext cx="3014297" cy="368202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0C35990-E81C-43AE-B207-1CAD6CFC8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48660" y="4432079"/>
            <a:ext cx="83731" cy="196077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993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946306D-5ADD-463A-949A-DEEBA39D70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D75A6-59FF-DE15-8E2F-15B4CEE9CB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778" r="18843" b="-2"/>
          <a:stretch>
            <a:fillRect/>
          </a:stretch>
        </p:blipFill>
        <p:spPr>
          <a:xfrm>
            <a:off x="446534" y="599724"/>
            <a:ext cx="5614416" cy="354787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1E57D7-46DA-537D-8349-D74A0F3C96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614" r="13675" b="-2"/>
          <a:stretch>
            <a:fillRect/>
          </a:stretch>
        </p:blipFill>
        <p:spPr>
          <a:xfrm>
            <a:off x="6116658" y="599724"/>
            <a:ext cx="5626608" cy="354787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9180D5DB-9658-40A6-A418-7C69982226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3" y="4199467"/>
            <a:ext cx="11296733" cy="21910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41C537-F54E-4D4D-40E1-8BDC5DD09D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120" y="4319752"/>
            <a:ext cx="10947620" cy="115595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Forward outlook &amp; cash position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32810AB-1783-4EC2-BA98-A04B50D03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F09CE43-7546-451A-9418-9977AE7317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2C17367-5B48-4C71-825E-C1A8CFEC8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6EA071A-7654-4C9E-AA2E-203E15234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</p:spTree>
    <p:extLst>
      <p:ext uri="{BB962C8B-B14F-4D97-AF65-F5344CB8AC3E}">
        <p14:creationId xmlns:p14="http://schemas.microsoft.com/office/powerpoint/2010/main" val="68015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8E5-DEC1-1593-1FF5-16E64451B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What's driving the numbers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0C621E-9DD4-1D79-E0E3-3F16D4C79D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859" r="174" b="-7161"/>
          <a:stretch>
            <a:fillRect/>
          </a:stretch>
        </p:blipFill>
        <p:spPr>
          <a:xfrm>
            <a:off x="372644" y="2246014"/>
            <a:ext cx="11441104" cy="416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55325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Dividend</vt:lpstr>
      <vt:lpstr>Britannia industries fp&amp;a review</vt:lpstr>
      <vt:lpstr>PowerPoint Presentation</vt:lpstr>
      <vt:lpstr>Decade of consistent   growth</vt:lpstr>
      <vt:lpstr>Budget discipline – every quarter ahead of plan</vt:lpstr>
      <vt:lpstr>Forward outlook &amp; cash position</vt:lpstr>
      <vt:lpstr>What's driving the numbers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149</cp:revision>
  <dcterms:created xsi:type="dcterms:W3CDTF">2026-10-12T05:12:01Z</dcterms:created>
  <dcterms:modified xsi:type="dcterms:W3CDTF">2026-10-12T05:59:56Z</dcterms:modified>
</cp:coreProperties>
</file>